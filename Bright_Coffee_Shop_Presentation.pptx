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2011680" cy="2011680"/>
          </a:xfrm>
          <a:prstGeom prst="ellipse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748272" y="-292608"/>
            <a:ext cx="1682496" cy="1682496"/>
          </a:xfrm>
          <a:prstGeom prst="ellipse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6931152" y="-109728"/>
            <a:ext cx="1316736" cy="1316736"/>
          </a:xfrm>
          <a:prstGeom prst="ellipse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680960" y="2560320"/>
            <a:ext cx="1280160" cy="1280160"/>
          </a:xfrm>
          <a:prstGeom prst="ellipse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845552" y="2724912"/>
            <a:ext cx="950976" cy="950976"/>
          </a:xfrm>
          <a:prstGeom prst="ellipse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8028432" y="2907792"/>
            <a:ext cx="585216" cy="585216"/>
          </a:xfrm>
          <a:prstGeom prst="ellipse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11480" y="9144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SHOP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for the New CEO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4572000" cy="36576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11480" y="30358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73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Compiled by </a:t>
            </a:r>
            <a:r>
              <a:rPr lang="en-US" sz="2000" dirty="0" err="1">
                <a:solidFill>
                  <a:srgbClr val="8B73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Resemate</a:t>
            </a:r>
            <a:r>
              <a:rPr lang="en-US" sz="2000" dirty="0">
                <a:solidFill>
                  <a:srgbClr val="8B73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Daniel Baloyi  </a:t>
            </a: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Jan – Jun 2023  ·  149,116 Transactions  ·  Due 31 March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analysed the data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raw CSV to CEO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1920240" cy="9144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" y="2834640"/>
            <a:ext cx="1591056" cy="27432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21208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diagram, key insights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calculations outline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627632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2560320" y="1627632"/>
            <a:ext cx="1920240" cy="91440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256032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F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2542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24912" y="2834640"/>
            <a:ext cx="1591056" cy="27432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2670048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prices, compute revenue,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time buckets, load Snowflake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627632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4709160" y="1627632"/>
            <a:ext cx="1920240" cy="9144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70916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91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73752" y="2834640"/>
            <a:ext cx="1591056" cy="2743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818888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charts — revenue,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day, products, stores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1627632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6858000" y="1627632"/>
            <a:ext cx="1920240" cy="9144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85800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5800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2542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22592" y="2834640"/>
            <a:ext cx="1591056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967728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CEO-ready insights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recommendations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370832"/>
            <a:ext cx="8321040" cy="502920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11480" y="43708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149,116 rows  ·  11 columns  ·  Jan – Jun 2023  ·  3 NYC stores  ·  9 product categories  ·  29 product types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949440" y="3200400"/>
            <a:ext cx="2011680" cy="2011680"/>
          </a:xfrm>
          <a:prstGeom prst="ellipse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114032" y="3364992"/>
            <a:ext cx="1682496" cy="1682496"/>
          </a:xfrm>
          <a:prstGeom prst="ellipse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296912" y="3547872"/>
            <a:ext cx="1316736" cy="1316736"/>
          </a:xfrm>
          <a:prstGeom prst="ellipse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Shop — Jan to Jun 2023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920240" cy="109728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192024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$698,812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1920240" cy="1097280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423160" y="1325880"/>
            <a:ext cx="192024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23160" y="18928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1920240" cy="109728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480560" y="1325880"/>
            <a:ext cx="192024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18928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234440"/>
            <a:ext cx="1920240" cy="1097280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537960" y="1325880"/>
            <a:ext cx="192024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214,470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18928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1920240" cy="100584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192024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3118104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514600"/>
            <a:ext cx="1920240" cy="100584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2423160" y="2606040"/>
            <a:ext cx="192024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$166,486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423160" y="3118104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(June)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514600"/>
            <a:ext cx="1920240" cy="100584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92024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Stores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480560" y="3118104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Locations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2514600"/>
            <a:ext cx="1920240" cy="100584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537960" y="2606040"/>
            <a:ext cx="192024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+104%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537960" y="3118104"/>
            <a:ext cx="192024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Jan→Jun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product category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leads at $269,952 — 38.6% of all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618488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920240" y="1618488"/>
            <a:ext cx="4754880" cy="201168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766560" y="157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$269,952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1965960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1920240" y="1965960"/>
            <a:ext cx="3461553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766560" y="1920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$196,406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2677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313432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1920240" y="2313432"/>
            <a:ext cx="1450238" cy="201168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766560" y="2267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$82,316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6151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Choc.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2660904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1920240" y="2660904"/>
            <a:ext cx="1274308" cy="201168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766560" y="26151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$72,416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9626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Beans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0240" y="3008376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1920240" y="3008376"/>
            <a:ext cx="708477" cy="20116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766560" y="29626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$40,085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3101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3355848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1920240" y="3355848"/>
            <a:ext cx="237744" cy="20116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766560" y="3310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657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Tea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3703320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1920240" y="3703320"/>
            <a:ext cx="199705" cy="201168"/>
          </a:xfrm>
          <a:prstGeom prst="rect">
            <a:avLst/>
          </a:prstGeom>
          <a:solidFill>
            <a:srgbClr val="A0856E"/>
          </a:solidFill>
          <a:ln w="12700">
            <a:solidFill>
              <a:srgbClr val="A085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766560" y="3657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$11,214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40050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4050792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1920240" y="4050792"/>
            <a:ext cx="147401" cy="201168"/>
          </a:xfrm>
          <a:prstGeom prst="rect">
            <a:avLst/>
          </a:prstGeom>
          <a:solidFill>
            <a:srgbClr val="BFA07A"/>
          </a:solidFill>
          <a:ln w="12700">
            <a:solidFill>
              <a:srgbClr val="BFA07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6766560" y="4005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3525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Pkg. Choc.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20240" y="4398264"/>
            <a:ext cx="4754880" cy="201168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1920240" y="4398264"/>
            <a:ext cx="76078" cy="201168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766560" y="43525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$4,408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63840" y="1600200"/>
            <a:ext cx="1188720" cy="694944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7863840" y="16550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0" y="1911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38.6%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863840" y="2386584"/>
            <a:ext cx="1188720" cy="694944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7863840" y="2441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86384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28.1%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863840" y="3172968"/>
            <a:ext cx="1188720" cy="694944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7863840" y="32278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63840" y="34838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11.8%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863840" y="3959352"/>
            <a:ext cx="1188720" cy="69494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7863840" y="40142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Drk. Choc.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863840" y="4270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time of 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10 AM · Morning rush 7–11 AM · Slow window 2–5 PM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01084"/>
            <a:ext cx="457200" cy="150876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48056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78408" y="3477006"/>
            <a:ext cx="457200" cy="774954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69264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99616" y="2814066"/>
            <a:ext cx="457200" cy="143789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490472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20824" y="2370582"/>
            <a:ext cx="457200" cy="188137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2011680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42032" y="1965960"/>
            <a:ext cx="457200" cy="22860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2532888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50592" y="17099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63240" y="2075688"/>
            <a:ext cx="457200" cy="217627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054096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84448" y="2832354"/>
            <a:ext cx="457200" cy="1419606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575304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05656" y="2999232"/>
            <a:ext cx="457200" cy="1252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096512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26864" y="3054096"/>
            <a:ext cx="457200" cy="1197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617720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8072" y="3054096"/>
            <a:ext cx="457200" cy="1197864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138928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0" y="3035808"/>
            <a:ext cx="457200" cy="121615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660136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90488" y="3753612"/>
            <a:ext cx="457200" cy="498348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181344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11696" y="4030218"/>
            <a:ext cx="457200" cy="221742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6702552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32904" y="4160520"/>
            <a:ext cx="457200" cy="91440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7223760" y="42885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98080" y="1572768"/>
            <a:ext cx="1554480" cy="82296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7498080" y="162763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Peak: 10 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18836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18,545 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$88,673 revenue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2532888"/>
            <a:ext cx="1554480" cy="822960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7498080" y="258775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rush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0" y="28437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 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daily volume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0" y="3493008"/>
            <a:ext cx="1554480" cy="8229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7498080" y="35478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period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98080" y="3803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PM · Promo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window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COMPARISON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store location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NYC stores earn within $6,454 of each other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" cy="804672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66928" y="16824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Hell's Kitchen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5029200" cy="219456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566928" y="2084832"/>
            <a:ext cx="5029200" cy="219456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760720" y="1719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$236,511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60720" y="21396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 of total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54864" cy="804672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66928" y="27066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Astoria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108960"/>
            <a:ext cx="5029200" cy="219456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4938674" cy="219456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7607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F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$232,244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31638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33.2% of total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675888"/>
            <a:ext cx="54864" cy="80467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37307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Manhattan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133088"/>
            <a:ext cx="5029200" cy="219456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566928" y="4133088"/>
            <a:ext cx="4893412" cy="219456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5760720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F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$230,057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60720" y="41879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32.9% of total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near-equal revenue across all 3 stores (+/- 2.8%) confirms a scalable, consistent business model — ideal for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296912" y="-201168"/>
            <a:ext cx="1682496" cy="1682496"/>
          </a:xfrm>
          <a:prstGeom prst="ellipse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479792" y="-18288"/>
            <a:ext cx="1316736" cy="1316736"/>
          </a:xfrm>
          <a:prstGeom prst="ellipse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RANKING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&amp; bottom 5 products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account for 51% of all revenue · Bottom 5 need promotion or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by revenue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01952"/>
          <a:ext cx="3931920" cy="2606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Category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Revenue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Barista Espresso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$91,406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Brewed Chai 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chocolate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Drk. Choc.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$72,416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Gourmet brewed coffee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Brewed Black 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17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$47,932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3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80060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5 — promote or review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901952"/>
          <a:ext cx="3931920" cy="2606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E6C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E6C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Category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E6C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Revenue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Drinking Choc. (loose)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Drk. Choc.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Pkg. Chocolate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Pkg. Choc.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Flavours (syrups)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$11,214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F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0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revenue — Jan to Jun 2023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104% in 6 months — from $81k to $166k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6217"/>
            <a:ext cx="1005840" cy="1209751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94360" y="2831897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08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38528" y="3180283"/>
            <a:ext cx="1005840" cy="1135685"/>
          </a:xfrm>
          <a:prstGeom prst="rect">
            <a:avLst/>
          </a:prstGeom>
          <a:solidFill>
            <a:srgbClr val="7A3A1A"/>
          </a:solidFill>
          <a:ln w="12700">
            <a:solidFill>
              <a:srgbClr val="7A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892808" y="2905963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$76k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92808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088" y="4608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92808" y="47914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-6.8%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36976" y="2859329"/>
            <a:ext cx="1005840" cy="1456639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191256" y="2585009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91256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45536" y="4608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1256" y="47914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35424" y="2563063"/>
            <a:ext cx="1005840" cy="1752905"/>
          </a:xfrm>
          <a:prstGeom prst="rect">
            <a:avLst/>
          </a:prstGeom>
          <a:solidFill>
            <a:srgbClr val="B87020"/>
          </a:solidFill>
          <a:ln w="12700">
            <a:solidFill>
              <a:srgbClr val="B8702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489704" y="2288743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7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$119k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9704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43984" y="4608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lift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9704" y="47914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33872" y="1995221"/>
            <a:ext cx="1005840" cy="2320747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5788152" y="1720901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$157k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88152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42432" y="4608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surge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88152" y="47914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1847088"/>
            <a:ext cx="1005840" cy="2468880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086600" y="15727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$166k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4608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86600" y="47914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223760" y="3474720"/>
            <a:ext cx="1280160" cy="1280160"/>
          </a:xfrm>
          <a:prstGeom prst="ellipse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388352" y="3639312"/>
            <a:ext cx="950976" cy="950976"/>
          </a:xfrm>
          <a:prstGeom prst="ellipse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571232" y="3822192"/>
            <a:ext cx="585216" cy="585216"/>
          </a:xfrm>
          <a:prstGeom prst="ellipse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2011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improvement strategies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data-backed actions across 3 time horizons · Estimated +$47,223 additional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2743200" cy="306324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11480" y="1600200"/>
            <a:ext cx="2743200" cy="109728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39496" y="17373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" y="206654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" y="2340864"/>
            <a:ext cx="2487168" cy="2743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39496" y="243230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syrups $0.80→$1.50 (+$7,358)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" y="305409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Biscotti cross-sell with Espresso (+$8,529)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" y="367588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Lg size premium +$0.25 (+$10k)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600200"/>
            <a:ext cx="2743200" cy="306324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3337560" y="1600200"/>
            <a:ext cx="2743200" cy="109728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3465576" y="17373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term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65576" y="206654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65576" y="2340864"/>
            <a:ext cx="2487168" cy="27432"/>
          </a:xfrm>
          <a:prstGeom prst="rect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465576" y="243230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PM afternoon slow-slot campaigns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65576" y="305409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stamp card for morning regulars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65576" y="367588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Premium Beans at checkout (+$21k)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600200"/>
            <a:ext cx="2743200" cy="306324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263640" y="1600200"/>
            <a:ext cx="2743200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391656" y="17373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term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91656" y="206654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91656" y="2340864"/>
            <a:ext cx="2487168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391656" y="243230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CEO reporting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91656" y="305409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store parity to plan 4th NYC location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91656" y="367588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menu: Cold Brew + Spiced Choc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5669280" y="914400"/>
            <a:ext cx="2011680" cy="2011680"/>
          </a:xfrm>
          <a:prstGeom prst="ellipse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5833872" y="1078992"/>
            <a:ext cx="1682496" cy="1682496"/>
          </a:xfrm>
          <a:prstGeom prst="ellipse">
            <a:avLst/>
          </a:prstGeom>
          <a:solidFill>
            <a:srgbClr val="6F3A1A"/>
          </a:solidFill>
          <a:ln w="12700">
            <a:solidFill>
              <a:srgbClr val="6F3A1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016752" y="1261872"/>
            <a:ext cx="1316736" cy="1316736"/>
          </a:xfrm>
          <a:prstGeom prst="ellipse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17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this presentation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347472" cy="34747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168249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daily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91109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Snowflake → Power BI refresh each morning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95728"/>
            <a:ext cx="347472" cy="34747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11480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241401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 pricing changes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2642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syrups and increase Large size premium now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27248"/>
            <a:ext cx="347472" cy="34747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11480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31455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loyalty programme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3374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card tied to 7–10 AM morning peak visits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858768"/>
            <a:ext cx="347472" cy="347472"/>
          </a:xfrm>
          <a:prstGeom prst="rect">
            <a:avLst/>
          </a:prstGeom>
          <a:solidFill>
            <a:srgbClr val="C17F2A"/>
          </a:solidFill>
          <a:ln w="12700">
            <a:solidFill>
              <a:srgbClr val="C17F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11480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" y="387705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4th store expansion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41056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revenue parity as the business case to grow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562856"/>
            <a:ext cx="5029200" cy="347472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11480" y="46268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1737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AF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429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694</Words>
  <Application>Microsoft Office PowerPoint</Application>
  <PresentationFormat>On-screen Show (16:9)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— Sales Analysis</dc:title>
  <dc:subject>PptxGenJS Presentation</dc:subject>
  <dc:creator>PptxGenJS</dc:creator>
  <cp:lastModifiedBy>DANIEL RASEMATE BALOYI</cp:lastModifiedBy>
  <cp:revision>3</cp:revision>
  <dcterms:created xsi:type="dcterms:W3CDTF">2026-03-30T07:09:52Z</dcterms:created>
  <dcterms:modified xsi:type="dcterms:W3CDTF">2026-03-31T08:07:39Z</dcterms:modified>
</cp:coreProperties>
</file>